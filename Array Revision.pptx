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8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90" r:id="rId14"/>
    <p:sldId id="293" r:id="rId15"/>
    <p:sldId id="291" r:id="rId16"/>
    <p:sldId id="292" r:id="rId17"/>
    <p:sldId id="266" r:id="rId18"/>
    <p:sldId id="267" r:id="rId19"/>
    <p:sldId id="268" r:id="rId20"/>
    <p:sldId id="294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2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12720" y="1600200"/>
            <a:ext cx="3978360" cy="449532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790520" y="1600200"/>
            <a:ext cx="3978360" cy="449532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612720" y="228600"/>
            <a:ext cx="8152920" cy="459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12720" y="160020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12720" y="394848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790520" y="1600200"/>
            <a:ext cx="3978360" cy="449532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12720" y="1600200"/>
            <a:ext cx="3978360" cy="449532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790520" y="160020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790520" y="394848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12720" y="160020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790520" y="160020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12720" y="3948480"/>
            <a:ext cx="815292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12720" y="1600200"/>
            <a:ext cx="815292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12720" y="3948480"/>
            <a:ext cx="815292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12720" y="160020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790520" y="160020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790520" y="394848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12720" y="394848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Picture 43"/>
          <p:cNvPicPr/>
          <p:nvPr/>
        </p:nvPicPr>
        <p:blipFill>
          <a:blip r:embed="rId2"/>
          <a:stretch/>
        </p:blipFill>
        <p:spPr>
          <a:xfrm>
            <a:off x="1872000" y="1599840"/>
            <a:ext cx="5634000" cy="4495320"/>
          </a:xfrm>
          <a:prstGeom prst="rect">
            <a:avLst/>
          </a:prstGeom>
          <a:ln>
            <a:noFill/>
          </a:ln>
        </p:spPr>
      </p:pic>
      <p:pic>
        <p:nvPicPr>
          <p:cNvPr id="45" name="Picture 44"/>
          <p:cNvPicPr/>
          <p:nvPr/>
        </p:nvPicPr>
        <p:blipFill>
          <a:blip r:embed="rId2"/>
          <a:stretch/>
        </p:blipFill>
        <p:spPr>
          <a:xfrm>
            <a:off x="1872000" y="1599840"/>
            <a:ext cx="5634000" cy="4495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12720" y="1600200"/>
            <a:ext cx="3978360" cy="449532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790520" y="1600200"/>
            <a:ext cx="3978360" cy="449532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612720" y="228600"/>
            <a:ext cx="8152920" cy="459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12720" y="160020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12720" y="394848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790520" y="1600200"/>
            <a:ext cx="3978360" cy="449532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12720" y="1600200"/>
            <a:ext cx="3978360" cy="449532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790520" y="160020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790520" y="394848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12720" y="160020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790520" y="160020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12720" y="3948480"/>
            <a:ext cx="815292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12720" y="1600200"/>
            <a:ext cx="815292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12720" y="3948480"/>
            <a:ext cx="815292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12720" y="160020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790520" y="160020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4790520" y="394848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612720" y="3948480"/>
            <a:ext cx="3978360" cy="214416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7" name="Picture 86"/>
          <p:cNvPicPr/>
          <p:nvPr/>
        </p:nvPicPr>
        <p:blipFill>
          <a:blip r:embed="rId2"/>
          <a:stretch/>
        </p:blipFill>
        <p:spPr>
          <a:xfrm>
            <a:off x="1872000" y="1599840"/>
            <a:ext cx="5634000" cy="4495320"/>
          </a:xfrm>
          <a:prstGeom prst="rect">
            <a:avLst/>
          </a:prstGeom>
          <a:ln>
            <a:noFill/>
          </a:ln>
        </p:spPr>
      </p:pic>
      <p:pic>
        <p:nvPicPr>
          <p:cNvPr id="88" name="Picture 87"/>
          <p:cNvPicPr/>
          <p:nvPr/>
        </p:nvPicPr>
        <p:blipFill>
          <a:blip r:embed="rId2"/>
          <a:stretch/>
        </p:blipFill>
        <p:spPr>
          <a:xfrm>
            <a:off x="1872000" y="1599840"/>
            <a:ext cx="5634000" cy="4495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stomShape 1" hidden="1"/>
          <p:cNvSpPr/>
          <p:nvPr/>
        </p:nvSpPr>
        <p:spPr>
          <a:xfrm>
            <a:off x="0" y="1235160"/>
            <a:ext cx="9143640" cy="31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2" hidden="1"/>
          <p:cNvSpPr/>
          <p:nvPr/>
        </p:nvSpPr>
        <p:spPr>
          <a:xfrm>
            <a:off x="0" y="1219320"/>
            <a:ext cx="533160" cy="228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CustomShape 3" hidden="1"/>
          <p:cNvSpPr/>
          <p:nvPr/>
        </p:nvSpPr>
        <p:spPr>
          <a:xfrm>
            <a:off x="590400" y="1219320"/>
            <a:ext cx="8553240" cy="228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Google Shape;17;p100"/>
          <p:cNvPicPr/>
          <p:nvPr/>
        </p:nvPicPr>
        <p:blipFill>
          <a:blip r:embed="rId14"/>
          <a:stretch/>
        </p:blipFill>
        <p:spPr>
          <a:xfrm>
            <a:off x="8153280" y="76320"/>
            <a:ext cx="990360" cy="990360"/>
          </a:xfrm>
          <a:prstGeom prst="rect">
            <a:avLst/>
          </a:prstGeom>
          <a:ln>
            <a:noFill/>
          </a:ln>
        </p:spPr>
      </p:pic>
      <p:sp>
        <p:nvSpPr>
          <p:cNvPr id="4" name="CustomShape 4"/>
          <p:cNvSpPr/>
          <p:nvPr/>
        </p:nvSpPr>
        <p:spPr>
          <a:xfrm>
            <a:off x="0" y="5970600"/>
            <a:ext cx="9143640" cy="887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/>
          <p:cNvSpPr/>
          <p:nvPr/>
        </p:nvSpPr>
        <p:spPr>
          <a:xfrm>
            <a:off x="-9360" y="6053040"/>
            <a:ext cx="2249280" cy="712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6"/>
          <p:cNvSpPr/>
          <p:nvPr/>
        </p:nvSpPr>
        <p:spPr>
          <a:xfrm>
            <a:off x="2359080" y="6043680"/>
            <a:ext cx="6784560" cy="713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PlaceHolder 7"/>
          <p:cNvSpPr>
            <a:spLocks noGrp="1"/>
          </p:cNvSpPr>
          <p:nvPr>
            <p:ph type="title"/>
          </p:nvPr>
        </p:nvSpPr>
        <p:spPr>
          <a:xfrm>
            <a:off x="2362320" y="4038480"/>
            <a:ext cx="6476760" cy="1828440"/>
          </a:xfrm>
          <a:prstGeom prst="rect">
            <a:avLst/>
          </a:prstGeom>
        </p:spPr>
        <p:txBody>
          <a:bodyPr anchor="b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8"/>
          <p:cNvSpPr>
            <a:spLocks noGrp="1"/>
          </p:cNvSpPr>
          <p:nvPr>
            <p:ph type="dt"/>
          </p:nvPr>
        </p:nvSpPr>
        <p:spPr>
          <a:xfrm>
            <a:off x="76320" y="6068880"/>
            <a:ext cx="2057040" cy="685440"/>
          </a:xfrm>
          <a:prstGeom prst="rect">
            <a:avLst/>
          </a:prstGeom>
        </p:spPr>
        <p:txBody>
          <a:bodyPr/>
          <a:lstStyle/>
          <a:p>
            <a:endParaRPr lang="en-IN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9" name="PlaceHolder 9"/>
          <p:cNvSpPr>
            <a:spLocks noGrp="1"/>
          </p:cNvSpPr>
          <p:nvPr>
            <p:ph type="ftr"/>
          </p:nvPr>
        </p:nvSpPr>
        <p:spPr>
          <a:xfrm>
            <a:off x="2085840" y="236520"/>
            <a:ext cx="5866920" cy="364680"/>
          </a:xfrm>
          <a:prstGeom prst="rect">
            <a:avLst/>
          </a:prstGeom>
        </p:spPr>
        <p:txBody>
          <a:bodyPr anchor="ctr"/>
          <a:lstStyle/>
          <a:p>
            <a:endParaRPr lang="en-IN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0" name="PlaceHolder 10"/>
          <p:cNvSpPr>
            <a:spLocks noGrp="1"/>
          </p:cNvSpPr>
          <p:nvPr>
            <p:ph type="sldNum"/>
          </p:nvPr>
        </p:nvSpPr>
        <p:spPr>
          <a:xfrm>
            <a:off x="8001000" y="228600"/>
            <a:ext cx="837720" cy="38052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168437B6-A660-46FE-8EC1-FB9C003BAB88}" type="slidenum">
              <a:rPr lang="en-IN" sz="1400" b="1" strike="noStrike" spc="-1">
                <a:solidFill>
                  <a:srgbClr val="EEECE1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1" name="PlaceHolder 11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0" y="1235160"/>
            <a:ext cx="9143640" cy="31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CustomShape 2"/>
          <p:cNvSpPr/>
          <p:nvPr/>
        </p:nvSpPr>
        <p:spPr>
          <a:xfrm>
            <a:off x="0" y="1219320"/>
            <a:ext cx="533160" cy="228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" name="CustomShape 3"/>
          <p:cNvSpPr/>
          <p:nvPr/>
        </p:nvSpPr>
        <p:spPr>
          <a:xfrm>
            <a:off x="590400" y="1219320"/>
            <a:ext cx="8553240" cy="228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9" name="Google Shape;35;p99"/>
          <p:cNvPicPr/>
          <p:nvPr/>
        </p:nvPicPr>
        <p:blipFill>
          <a:blip r:embed="rId14"/>
          <a:stretch/>
        </p:blipFill>
        <p:spPr>
          <a:xfrm>
            <a:off x="8153280" y="76320"/>
            <a:ext cx="990360" cy="990360"/>
          </a:xfrm>
          <a:prstGeom prst="rect">
            <a:avLst/>
          </a:prstGeom>
          <a:ln>
            <a:noFill/>
          </a:ln>
        </p:spPr>
      </p:pic>
      <p:sp>
        <p:nvSpPr>
          <p:cNvPr id="50" name="PlaceHolder 4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</p:spPr>
        <p:txBody>
          <a:bodyPr anchor="ctr"/>
          <a:lstStyle/>
          <a:p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</p:spPr>
        <p:txBody>
          <a:bodyPr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9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9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9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9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9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9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9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dt"/>
          </p:nvPr>
        </p:nvSpPr>
        <p:spPr>
          <a:xfrm>
            <a:off x="6095880" y="6248520"/>
            <a:ext cx="2666520" cy="364680"/>
          </a:xfrm>
          <a:prstGeom prst="rect">
            <a:avLst/>
          </a:prstGeom>
        </p:spPr>
        <p:txBody>
          <a:bodyPr/>
          <a:lstStyle/>
          <a:p>
            <a:endParaRPr lang="en-IN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/>
          </p:nvPr>
        </p:nvSpPr>
        <p:spPr>
          <a:xfrm>
            <a:off x="3352680" y="6477120"/>
            <a:ext cx="5420880" cy="364680"/>
          </a:xfrm>
          <a:prstGeom prst="rect">
            <a:avLst/>
          </a:prstGeom>
        </p:spPr>
        <p:txBody>
          <a:bodyPr anchor="ctr"/>
          <a:lstStyle/>
          <a:p>
            <a:endParaRPr lang="en-IN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/>
          </p:nvPr>
        </p:nvSpPr>
        <p:spPr>
          <a:xfrm>
            <a:off x="0" y="1219320"/>
            <a:ext cx="533160" cy="24408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560AE889-D1A9-4C0E-AFA2-ED7276CB27BB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533520" y="1981080"/>
            <a:ext cx="8229240" cy="18284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IN" sz="4400" b="0" strike="noStrike" spc="-1">
                <a:solidFill>
                  <a:srgbClr val="EEECE1"/>
                </a:solidFill>
                <a:uFill>
                  <a:solidFill>
                    <a:srgbClr val="FFFFFF"/>
                  </a:solidFill>
                </a:uFill>
                <a:latin typeface="Questrial"/>
                <a:ea typeface="Questrial"/>
              </a:rPr>
              <a:t>UNIT – III
 Derived data types and Functions in C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0" name="TextShape 2"/>
          <p:cNvSpPr txBox="1"/>
          <p:nvPr/>
        </p:nvSpPr>
        <p:spPr>
          <a:xfrm>
            <a:off x="2362320" y="6019920"/>
            <a:ext cx="6705360" cy="685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endParaRPr lang="en-IN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1" name="CustomShape 3"/>
          <p:cNvSpPr/>
          <p:nvPr/>
        </p:nvSpPr>
        <p:spPr>
          <a:xfrm>
            <a:off x="368640" y="6019920"/>
            <a:ext cx="1993320" cy="685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26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Questrial"/>
                <a:ea typeface="Questrial"/>
              </a:rPr>
              <a:t>FYBTECH</a:t>
            </a:r>
            <a:endParaRPr lang="en-IN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2" name="Google Shape;130;p1"/>
          <p:cNvPicPr/>
          <p:nvPr/>
        </p:nvPicPr>
        <p:blipFill>
          <a:blip r:embed="rId2"/>
          <a:stretch/>
        </p:blipFill>
        <p:spPr>
          <a:xfrm>
            <a:off x="7924680" y="95400"/>
            <a:ext cx="1123560" cy="1123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36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Unit 3 Contents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4" name="TextShape 2"/>
          <p:cNvSpPr txBox="1"/>
          <p:nvPr/>
        </p:nvSpPr>
        <p:spPr>
          <a:xfrm>
            <a:off x="612720" y="2009520"/>
            <a:ext cx="8152920" cy="28144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IN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</a:rPr>
              <a:t>Derived data types</a:t>
            </a: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</a:rPr>
              <a:t>: Array- Single and Multidimensional arrays, Structure – Structure and Array of structure, Union. Strings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</a:rPr>
              <a:t>Functions in C</a:t>
            </a: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</a:rPr>
              <a:t>: User defined and Library Functions-String Library Functions. Different parameter passing methods (Call by Value and Call by Reference), Passing array to a function, Recursion.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5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fld id="{31D4C7D7-BB92-4F9B-81C9-77B0999661B5}" type="slidenum">
              <a:rPr lang="en-IN" sz="119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Questrial"/>
                <a:ea typeface="Questrial"/>
              </a:rPr>
              <a:t>2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5335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Arrays in C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612720" y="1463760"/>
            <a:ext cx="8152920" cy="26665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9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An array is a set of elements of same datatype.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9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Each variable in an array is called an array element.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9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All the elements are of same type, but may contain different values.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9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The entire array is contiguously stored in memory.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9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The position of each array element is known as array index or subscript.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8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5E38F1AF-D792-42FB-B028-B610C601D3E0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3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F2038D-B046-A35F-91C0-B0FB40D872D1}"/>
              </a:ext>
            </a:extLst>
          </p:cNvPr>
          <p:cNvSpPr txBox="1"/>
          <p:nvPr/>
        </p:nvSpPr>
        <p:spPr>
          <a:xfrm>
            <a:off x="2286000" y="161896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An integer array looks like this: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CB26691-96FD-A97E-D7F9-0B6CF6ECC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5" y="2421622"/>
            <a:ext cx="3667807" cy="198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0210078-C9C0-0A6D-C1C5-540006F7B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057" y="2421622"/>
            <a:ext cx="5667375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788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Declaring Arrays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0" name="TextShape 2"/>
          <p:cNvSpPr txBox="1"/>
          <p:nvPr/>
        </p:nvSpPr>
        <p:spPr>
          <a:xfrm>
            <a:off x="612720" y="1463760"/>
            <a:ext cx="8152920" cy="5241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❑"/>
            </a:pPr>
            <a:r>
              <a:rPr lang="en-IN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 C, an array can be of any basic data type.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❑"/>
            </a:pPr>
            <a:r>
              <a:rPr lang="en-IN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Example:	int a[6];    //single or one dimensional array 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IN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	float Salary[6];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1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C451EC79-767E-48D8-B499-B587362B7771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5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102" name="Google Shape;644;p69"/>
          <p:cNvPicPr/>
          <p:nvPr/>
        </p:nvPicPr>
        <p:blipFill>
          <a:blip r:embed="rId2"/>
          <a:stretch/>
        </p:blipFill>
        <p:spPr>
          <a:xfrm>
            <a:off x="1979392" y="3881187"/>
            <a:ext cx="4000320" cy="961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Contd…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4" name="TextShape 2"/>
          <p:cNvSpPr txBox="1"/>
          <p:nvPr/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❑"/>
            </a:pPr>
            <a:r>
              <a:rPr lang="en-IN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The array index starts with zero.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❑"/>
            </a:pPr>
            <a:r>
              <a:rPr lang="en-IN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The valid array indexes for the above declared array is 0 to 5.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❑"/>
            </a:pPr>
            <a:r>
              <a:rPr lang="en-IN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When an array is declared without initializing it, the elements have unknown (garbage) values.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0808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5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B50E931B-E0C5-4A4D-9FF0-4C74C08CC6B9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6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457200" y="15228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0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Memory Representation of an Integer Array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7" name="TextShape 2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5E38E975-C344-498A-AD14-C79C240AB4E2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7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108" name="Picture 107"/>
          <p:cNvPicPr/>
          <p:nvPr/>
        </p:nvPicPr>
        <p:blipFill>
          <a:blip r:embed="rId2"/>
          <a:stretch/>
        </p:blipFill>
        <p:spPr>
          <a:xfrm>
            <a:off x="533160" y="1664756"/>
            <a:ext cx="8001000" cy="504096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152280" y="15228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0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Declaring and Initializing Arrays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0" name="TextShape 2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A9F3C22A-7494-4471-B656-FC277BB6B6D1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8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612720" y="1295280"/>
            <a:ext cx="8152920" cy="26665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Arrays can be initialized as they are declared.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800" b="0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Example: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IN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int  aiEmployeeNumbers[ ] = {15090, 15091, 15092, 15093,15094, 15095};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The size in the above case is optional and it is automatically computed.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 the above example size of the array is 6 and it occupies 6 * 4 = 24 bytes.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612720" y="15228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Using Array Elements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3" name="TextShape 2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4E8979C7-3C2A-4CFC-ADE4-B8F19FC1DFBF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9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14" name="TextShape 3"/>
          <p:cNvSpPr txBox="1"/>
          <p:nvPr/>
        </p:nvSpPr>
        <p:spPr>
          <a:xfrm>
            <a:off x="159391" y="1463760"/>
            <a:ext cx="9865453" cy="377097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An array can be accessed by giving the respective index.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Syntax: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        </a:t>
            </a:r>
            <a:r>
              <a:rPr lang="en-IN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ArrayName</a:t>
            </a:r>
            <a:r>
              <a:rPr lang="en-IN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[index]  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Example: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  float </a:t>
            </a:r>
            <a:r>
              <a:rPr lang="en-IN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afSalaries</a:t>
            </a:r>
            <a:r>
              <a:rPr lang="en-IN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[6]; /* Declare an array of six floats */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  </a:t>
            </a:r>
            <a:r>
              <a:rPr lang="en-IN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afSalaries</a:t>
            </a:r>
            <a:r>
              <a:rPr lang="en-IN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[0] = 12500.00; /* Assign a value to element at index 0 */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  </a:t>
            </a:r>
            <a:r>
              <a:rPr lang="en-IN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afSalaries</a:t>
            </a:r>
            <a:r>
              <a:rPr lang="en-IN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[1] = 15000.00; /* Assign a value to element at index 1 */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   ...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  </a:t>
            </a:r>
            <a:r>
              <a:rPr lang="en-IN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afSalaries</a:t>
            </a:r>
            <a:r>
              <a:rPr lang="en-IN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[5] = 25000.00; /* Assign a value to element at index 5 */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Contd…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6" name="TextShape 2"/>
          <p:cNvSpPr txBox="1"/>
          <p:nvPr/>
        </p:nvSpPr>
        <p:spPr>
          <a:xfrm>
            <a:off x="184557" y="1600200"/>
            <a:ext cx="9286613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/* Print the salary at array index 0 */</a:t>
            </a: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printf</a:t>
            </a:r>
            <a:r>
              <a:rPr lang="en-IN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(“Salary at Index 0 is %f \n”, </a:t>
            </a:r>
            <a:r>
              <a:rPr lang="en-IN" sz="32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afSalaries</a:t>
            </a:r>
            <a:r>
              <a:rPr lang="en-IN" sz="32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[0]</a:t>
            </a:r>
            <a:r>
              <a:rPr lang="en-IN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);</a:t>
            </a: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Arrays can also be referenced as index[</a:t>
            </a:r>
            <a:r>
              <a:rPr lang="en-IN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ArrayName</a:t>
            </a:r>
            <a:r>
              <a:rPr lang="en-IN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].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The statement 5[</a:t>
            </a:r>
            <a:r>
              <a:rPr lang="en-IN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afSalaries</a:t>
            </a:r>
            <a:r>
              <a:rPr lang="en-IN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] is a valid statement.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08080">
              <a:lnSpc>
                <a:spcPct val="100000"/>
              </a:lnSpc>
            </a:pP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7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2F510081-BF27-4B58-AA25-1D7C9FB5682C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10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Shape 1"/>
          <p:cNvSpPr txBox="1"/>
          <p:nvPr/>
        </p:nvSpPr>
        <p:spPr>
          <a:xfrm>
            <a:off x="612720" y="30492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Arrays and Loops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9" name="TextShape 2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AAFABA81-5487-4AD8-AF21-28BA93DD0A46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11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20" name="TextShape 3"/>
          <p:cNvSpPr txBox="1"/>
          <p:nvPr/>
        </p:nvSpPr>
        <p:spPr>
          <a:xfrm>
            <a:off x="612720" y="1463760"/>
            <a:ext cx="8302320" cy="51652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#include&lt;stdio.h&gt;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int main() 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{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#define ARRAYSIZE 10	// directive to set ARRAYSIZE to 10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int </a:t>
            </a:r>
            <a:r>
              <a:rPr lang="en-IN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aiArray</a:t>
            </a: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[ARRAYSIZE],</a:t>
            </a:r>
            <a:r>
              <a:rPr lang="en-IN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iCount</a:t>
            </a: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;   //int </a:t>
            </a:r>
            <a:r>
              <a:rPr lang="en-IN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aiArray</a:t>
            </a: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[10];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for (</a:t>
            </a:r>
            <a:r>
              <a:rPr lang="en-IN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iCount</a:t>
            </a: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= 0; </a:t>
            </a:r>
            <a:r>
              <a:rPr lang="en-IN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iCount</a:t>
            </a: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&lt; ARRAYSIZE; </a:t>
            </a:r>
            <a:r>
              <a:rPr lang="en-IN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iCount</a:t>
            </a: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++) 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{           </a:t>
            </a:r>
            <a:r>
              <a:rPr lang="en-IN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printf</a:t>
            </a: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(“Enter %d element”,</a:t>
            </a:r>
            <a:r>
              <a:rPr lang="en-IN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iCount</a:t>
            </a: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);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          </a:t>
            </a:r>
            <a:r>
              <a:rPr lang="en-IN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scanf</a:t>
            </a: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(“%d”,&amp;</a:t>
            </a:r>
            <a:r>
              <a:rPr lang="en-IN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aiArray</a:t>
            </a: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[</a:t>
            </a:r>
            <a:r>
              <a:rPr lang="en-IN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iCount</a:t>
            </a: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]);   // accept array elements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}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for (</a:t>
            </a:r>
            <a:r>
              <a:rPr lang="en-IN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iCount</a:t>
            </a: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= 0; </a:t>
            </a:r>
            <a:r>
              <a:rPr lang="en-IN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iCount</a:t>
            </a: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&lt; ARRAYSIZE; </a:t>
            </a:r>
            <a:r>
              <a:rPr lang="en-IN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iCount</a:t>
            </a: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++) 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{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</a:t>
            </a:r>
            <a:r>
              <a:rPr lang="en-IN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printf</a:t>
            </a: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(“Element in %d position %d”,</a:t>
            </a:r>
            <a:r>
              <a:rPr lang="en-IN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iCount,aiArray</a:t>
            </a: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[</a:t>
            </a:r>
            <a:r>
              <a:rPr lang="en-IN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iCount</a:t>
            </a: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]); // display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} 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return 0;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}</a:t>
            </a:r>
            <a:endParaRPr lang="en-IN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65B98-F251-9074-5A46-0989CE219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average marks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70A14A-D63F-1A39-BE53-5E1A5F855E8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12720" y="2804023"/>
            <a:ext cx="8152920" cy="990360"/>
          </a:xfrm>
        </p:spPr>
        <p:txBody>
          <a:bodyPr/>
          <a:lstStyle/>
          <a:p>
            <a:pPr marL="0" indent="0" algn="l">
              <a:buNone/>
            </a:pPr>
            <a:r>
              <a:rPr lang="nn-NO" sz="1800" dirty="0">
                <a:solidFill>
                  <a:srgbClr val="CD5A00"/>
                </a:solidFill>
                <a:latin typeface="Calibri" panose="020F0502020204030204" pitchFamily="34" charset="0"/>
              </a:rPr>
              <a:t>    </a:t>
            </a:r>
            <a:r>
              <a:rPr lang="nn-NO" sz="1800" b="0" i="0" u="none" strike="noStrike" baseline="0" dirty="0">
                <a:solidFill>
                  <a:srgbClr val="CD5A00"/>
                </a:solidFill>
                <a:latin typeface="Calibri" panose="020F0502020204030204" pitchFamily="34" charset="0"/>
              </a:rPr>
              <a:t>for ( i = 0 ; i &lt;= 29 ; i++ )</a:t>
            </a:r>
          </a:p>
          <a:p>
            <a:pPr marL="0" indent="0" algn="l">
              <a:buNone/>
            </a:pPr>
            <a:r>
              <a:rPr lang="en-IN" sz="1800" b="0" i="0" u="none" strike="noStrike" baseline="0" dirty="0">
                <a:solidFill>
                  <a:srgbClr val="CD5A00"/>
                </a:solidFill>
                <a:latin typeface="Calibri" panose="020F0502020204030204" pitchFamily="34" charset="0"/>
              </a:rPr>
              <a:t>   	sum = sum + marks[ </a:t>
            </a:r>
            <a:r>
              <a:rPr lang="en-IN" sz="1800" b="0" i="0" u="none" strike="noStrike" baseline="0" dirty="0" err="1">
                <a:solidFill>
                  <a:srgbClr val="CD5A00"/>
                </a:solidFill>
                <a:latin typeface="Calibri" panose="020F0502020204030204" pitchFamily="34" charset="0"/>
              </a:rPr>
              <a:t>i</a:t>
            </a:r>
            <a:r>
              <a:rPr lang="en-IN" sz="1800" b="0" i="0" u="none" strike="noStrike" baseline="0" dirty="0">
                <a:solidFill>
                  <a:srgbClr val="CD5A00"/>
                </a:solidFill>
                <a:latin typeface="Calibri" panose="020F0502020204030204" pitchFamily="34" charset="0"/>
              </a:rPr>
              <a:t> ] ;</a:t>
            </a:r>
          </a:p>
          <a:p>
            <a:pPr marL="0" indent="0" algn="l">
              <a:buNone/>
            </a:pPr>
            <a:r>
              <a:rPr lang="en-IN" sz="1800" b="0" i="0" u="none" strike="noStrike" baseline="0" dirty="0">
                <a:solidFill>
                  <a:srgbClr val="CD5A00"/>
                </a:solidFill>
                <a:latin typeface="Calibri" panose="020F0502020204030204" pitchFamily="34" charset="0"/>
              </a:rPr>
              <a:t>   </a:t>
            </a:r>
            <a:r>
              <a:rPr lang="en-IN" sz="1800" b="0" i="0" u="none" strike="noStrike" baseline="0" dirty="0" err="1">
                <a:solidFill>
                  <a:srgbClr val="CD5A00"/>
                </a:solidFill>
                <a:latin typeface="Calibri" panose="020F0502020204030204" pitchFamily="34" charset="0"/>
              </a:rPr>
              <a:t>avg</a:t>
            </a:r>
            <a:r>
              <a:rPr lang="en-IN" sz="1800" b="0" i="0" u="none" strike="noStrike" baseline="0" dirty="0">
                <a:solidFill>
                  <a:srgbClr val="CD5A00"/>
                </a:solidFill>
                <a:latin typeface="Calibri" panose="020F0502020204030204" pitchFamily="34" charset="0"/>
              </a:rPr>
              <a:t> = sum / 30 ;</a:t>
            </a:r>
          </a:p>
          <a:p>
            <a:pPr marL="0" indent="0" algn="l">
              <a:buNone/>
            </a:pPr>
            <a:r>
              <a:rPr lang="en-IN" sz="1800" b="0" i="0" u="none" strike="noStrike" baseline="0" dirty="0">
                <a:solidFill>
                  <a:srgbClr val="CD5A00"/>
                </a:solidFill>
                <a:latin typeface="Calibri" panose="020F0502020204030204" pitchFamily="34" charset="0"/>
              </a:rPr>
              <a:t>   </a:t>
            </a:r>
            <a:r>
              <a:rPr lang="en-IN" sz="1800" b="0" i="0" u="none" strike="noStrike" baseline="0" dirty="0" err="1">
                <a:solidFill>
                  <a:srgbClr val="CD5A00"/>
                </a:solidFill>
                <a:latin typeface="Calibri" panose="020F0502020204030204" pitchFamily="34" charset="0"/>
              </a:rPr>
              <a:t>printf</a:t>
            </a:r>
            <a:r>
              <a:rPr lang="en-IN" sz="1800" b="0" i="0" u="none" strike="noStrike" baseline="0" dirty="0">
                <a:solidFill>
                  <a:srgbClr val="CD5A00"/>
                </a:solidFill>
                <a:latin typeface="Calibri" panose="020F0502020204030204" pitchFamily="34" charset="0"/>
              </a:rPr>
              <a:t> ( "Average marks = %d\n", </a:t>
            </a:r>
            <a:r>
              <a:rPr lang="en-IN" sz="1800" b="0" i="0" u="none" strike="noStrike" baseline="0" dirty="0" err="1">
                <a:solidFill>
                  <a:srgbClr val="CD5A00"/>
                </a:solidFill>
                <a:latin typeface="Calibri" panose="020F0502020204030204" pitchFamily="34" charset="0"/>
              </a:rPr>
              <a:t>avg</a:t>
            </a:r>
            <a:r>
              <a:rPr lang="en-IN" sz="1800" b="0" i="0" u="none" strike="noStrike" baseline="0" dirty="0">
                <a:solidFill>
                  <a:srgbClr val="CD5A00"/>
                </a:solidFill>
                <a:latin typeface="Calibri" panose="020F0502020204030204" pitchFamily="34" charset="0"/>
              </a:rPr>
              <a:t> ) 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4347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C517E-F39E-E72B-8161-D7475CA7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7B86B-338B-2851-27C3-9D381A86973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12720" y="3634534"/>
            <a:ext cx="8152920" cy="990360"/>
          </a:xfrm>
        </p:spPr>
        <p:txBody>
          <a:bodyPr/>
          <a:lstStyle/>
          <a:p>
            <a:r>
              <a:rPr lang="en-IN" dirty="0"/>
              <a:t>1.Write program to find highest number in the array.</a:t>
            </a:r>
          </a:p>
          <a:p>
            <a:r>
              <a:rPr lang="en-IN" dirty="0"/>
              <a:t>2.Write program to add all the numbers in the array.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3633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8AB5-E4E6-2EEF-23AD-8EFFD8CC4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Multidimensional arrays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7C4E29-681C-79E4-03A1-DFBB11B2FAC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12720" y="2237764"/>
            <a:ext cx="8152920" cy="449532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185E0A2-FBF1-AB36-A8EA-89B8DB5BF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832952"/>
            <a:ext cx="8439150" cy="446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302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8E1B9-21AE-D073-E33E-467A28DC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Multidimensional arrays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8B41D2-DF4B-668A-CAF8-9827A36A0633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11D529F-C3E1-538E-35C7-61C5759D0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2035"/>
            <a:ext cx="9144000" cy="478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8535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Multi dimensional Arrays: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2" name="TextShape 2"/>
          <p:cNvSpPr txBox="1"/>
          <p:nvPr/>
        </p:nvSpPr>
        <p:spPr>
          <a:xfrm>
            <a:off x="533520" y="1371600"/>
            <a:ext cx="8152920" cy="51051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❑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The array has two subscripts. One subscript denotes the row &amp; the other the column. The declaration of two dimension arrays is as follows: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926080" lvl="8" indent="-228240">
              <a:lnSpc>
                <a:spcPct val="150000"/>
              </a:lnSpc>
              <a:buClr>
                <a:srgbClr val="8064A2"/>
              </a:buClr>
              <a:buFont typeface="Noto Sans Symbols"/>
              <a:buChar char="❑"/>
            </a:pPr>
            <a:r>
              <a:rPr lang="en-IN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int arr[2][3];</a:t>
            </a:r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❑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Syntax :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data_type array_name[row_size][column_size]; 
	int m[10][20];  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❑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</a:t>
            </a: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Here m is declared as a matrix having 10 rows( numbered from 0 to 9) and 20 columns(numbered 0 through 19). The first element of the matrix is </a:t>
            </a:r>
            <a:r>
              <a:rPr lang="en-IN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m[0][0] </a:t>
            </a: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and the last row last column is </a:t>
            </a:r>
            <a:r>
              <a:rPr lang="en-IN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m[9][19]</a:t>
            </a: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4264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3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D939E87E-6D52-4BB1-8970-A88B8E100A59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16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124" name="Google Shape;694;p76"/>
          <p:cNvPicPr/>
          <p:nvPr/>
        </p:nvPicPr>
        <p:blipFill>
          <a:blip r:embed="rId2"/>
          <a:stretch/>
        </p:blipFill>
        <p:spPr>
          <a:xfrm>
            <a:off x="4724280" y="2695680"/>
            <a:ext cx="4066920" cy="1190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612720" y="15228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36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Initialization Of Multidimensional Arrays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6" name="TextShape 2"/>
          <p:cNvSpPr txBox="1"/>
          <p:nvPr/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Like the one dimension arrays, 2 dimension arrays may be initialized by following their declaration with a list of initial values enclosed in braces.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9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Example: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int table[2][3]={0,0,0,1,1,1};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			OR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int table[2][3]={{0,0,0},{1,1,1}}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int first[3][4] = {0,1,2,3,4,5,6,7,8,9,10,11};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int second[3][4] = {0, 1, 2, 3, 4, 5, 6, 7, 8, 9,10,11}; //a clearer definition than the first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int third[][5] = {0,1,2,3,4}; /* third[] only has one index of 1 */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9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int fourth[][6] = {0,1,2,3,4,5,6,7,8,9,10,11}; /* fourth[] has 2 indices - 0 or 1 */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4264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7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B103147E-4E80-4567-B972-D8548FACF3E9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17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1"/>
          <p:cNvSpPr txBox="1"/>
          <p:nvPr/>
        </p:nvSpPr>
        <p:spPr>
          <a:xfrm>
            <a:off x="612720" y="15228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Multidimensional Arrays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9" name="TextShape 2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7005B416-75CD-46C1-B899-9BAE3A36B7FA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18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30" name="TextShape 3"/>
          <p:cNvSpPr txBox="1"/>
          <p:nvPr/>
        </p:nvSpPr>
        <p:spPr>
          <a:xfrm>
            <a:off x="1143000" y="754200"/>
            <a:ext cx="7238520" cy="66178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#include&lt;stdio.h&gt;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int main(){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int arr[2][2]; // Two-dimensional array declaration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int i, j;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for(i=0; i&lt;2; i++) {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for(j=0;j&lt;2;j++) {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printf("Enter value for arr[%d][%d]:", i, j);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scanf("%d", &amp;arr[i][j]);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}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}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printf("Two Dimensional array elements:\n"); //Displaying array elements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for(i=0; i&lt;2; i++) {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for(j=0;j&lt;2;j++) {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printf("%d ", arr[i][j]);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}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printf("\n");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} 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return 0;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IN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}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F713-6A73-EADE-DAF0-9B17CE15D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A5B6D-7B19-A229-E903-30AF3A08364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12720" y="4154652"/>
            <a:ext cx="8152920" cy="99036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1.Images – captured through mobile camera etc</a:t>
            </a:r>
          </a:p>
          <a:p>
            <a:pPr marL="0" indent="0">
              <a:buNone/>
            </a:pPr>
            <a:r>
              <a:rPr lang="en-IN" dirty="0"/>
              <a:t>2D grid on screen or on print.</a:t>
            </a:r>
          </a:p>
          <a:p>
            <a:pPr marL="0" indent="0">
              <a:buNone/>
            </a:pPr>
            <a:r>
              <a:rPr lang="en-IN" dirty="0"/>
              <a:t>Internally stored as individual arrays for each of RGB</a:t>
            </a:r>
          </a:p>
          <a:p>
            <a:pPr marL="0" indent="0">
              <a:buNone/>
            </a:pPr>
            <a:r>
              <a:rPr lang="en-IN" dirty="0"/>
              <a:t>2. Sitting arrangements in classrooms, theatres etc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8233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Shape 1"/>
          <p:cNvSpPr txBox="1"/>
          <p:nvPr/>
        </p:nvSpPr>
        <p:spPr>
          <a:xfrm>
            <a:off x="533520" y="38088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Strings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2" name="TextShape 2"/>
          <p:cNvSpPr txBox="1"/>
          <p:nvPr/>
        </p:nvSpPr>
        <p:spPr>
          <a:xfrm>
            <a:off x="609480" y="1447920"/>
            <a:ext cx="8152920" cy="52574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“A string is a series of characters in a group that occupy contiguous memory or String is an array of character.”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Example:	“My Training”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	“Fundamentals of Data Structure”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 string should always be enclosed with in double quotes (“)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 memory, a string ends with a null character ‘\0’ and it occupies 1 byte of memory.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Space should be allocated to store ‘\0’ as part of the string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 compiler automatically adds a NULL character '\0' to the character array created.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4264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3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B7F5E219-45A5-4BF8-A85A-B28A24926327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20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1"/>
          <p:cNvSpPr txBox="1"/>
          <p:nvPr/>
        </p:nvSpPr>
        <p:spPr>
          <a:xfrm>
            <a:off x="533520" y="30492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Declaration Of Strings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5" name="TextShape 2"/>
          <p:cNvSpPr txBox="1"/>
          <p:nvPr/>
        </p:nvSpPr>
        <p:spPr>
          <a:xfrm>
            <a:off x="612720" y="1447920"/>
            <a:ext cx="8152920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 algn="just">
              <a:lnSpc>
                <a:spcPct val="15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 language does not directly support string as a data type. Hence, to display a String in C,  need to make use of a character array.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char</a:t>
            </a: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variablename [Number_of_characters ];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5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Example</a:t>
            </a: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:	</a:t>
            </a: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char acEmployeeName[20];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Here 20 implies that the maximum number of characters can be 19 and one position is reserved for ‘\0’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Since a character occupies one byte, the above array occupies 20 bytes (19 bytes for the employee name and one byte for ‘\0’)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/* Declaring a string as a character array */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char acInfy[ ] = “MITWPU Pune”;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Think why ‘\0’ requires only one byte!!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4264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6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829E6994-A2B2-4276-91D6-D4A9925EB47B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21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Shape 1"/>
          <p:cNvSpPr txBox="1"/>
          <p:nvPr/>
        </p:nvSpPr>
        <p:spPr>
          <a:xfrm>
            <a:off x="533520" y="38088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
Storage Of Strings In Memory
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8" name="TextShape 2"/>
          <p:cNvSpPr txBox="1"/>
          <p:nvPr/>
        </p:nvSpPr>
        <p:spPr>
          <a:xfrm>
            <a:off x="612720" y="1447920"/>
            <a:ext cx="8152920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9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char acItemCategory[15]= “Books”;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0808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9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5EE03FC4-C0E2-4D85-B73F-19C5B013122D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22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140" name="Google Shape;730;p81"/>
          <p:cNvPicPr/>
          <p:nvPr/>
        </p:nvPicPr>
        <p:blipFill>
          <a:blip r:embed="rId2"/>
          <a:stretch/>
        </p:blipFill>
        <p:spPr>
          <a:xfrm>
            <a:off x="2057400" y="2133720"/>
            <a:ext cx="3530160" cy="4495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533520" y="30492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
Static Initialization of Strings
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2" name="TextShape 2"/>
          <p:cNvSpPr txBox="1"/>
          <p:nvPr/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char acItemCategory[15]=“Greeting Cards”;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 the above declaration, the size of the array is specified according to the number of characters in the string. One extra space for ‘\0’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char acItemCategory[15] =“Ornaments” 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Here the size is more than the number of characters which is valid.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char acItemCategory[ ]=“Groceries”;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Here the size of the array is computed automatically which is 10. Total number of characters in the string is 9 and 1 for ‘\0’;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2716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3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B77DBA8F-B8D3-49A9-A46E-29A1BD0AF0EE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23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Contd…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5" name="TextShape 2"/>
          <p:cNvSpPr txBox="1"/>
          <p:nvPr/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char acItemCategory[3]=“Books”;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Here the size specified is 3. But the number of characters in the string  is 5. This is invalid.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char acItemCategory[ ]={'s','t','a','t','i','o','n','a','r','y','\0'};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Here the character constants are supplied to initialize the string.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6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3D747115-1704-41BD-96F7-701FD65A0990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24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152280" y="762120"/>
            <a:ext cx="8152920" cy="9140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0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Reading and Printing Strings - Example
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8" name="TextShape 2"/>
          <p:cNvSpPr txBox="1"/>
          <p:nvPr/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/*Program to accept Item Category and display*/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#include&lt;stdio.h&gt;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int main()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{	char str[15]; //character array declaration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printf("Enter the category code: ");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scanf("%s",str);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printf("The given Item Category is %s", str);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return 0;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}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4264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9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462D6283-CD07-40B8-98D6-9DFA442066BF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25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
String Handling Functions
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1" name="TextShape 2"/>
          <p:cNvSpPr txBox="1"/>
          <p:nvPr/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The following are the string built-in functions that are supported by C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</a:t>
            </a:r>
            <a:r>
              <a:rPr lang="en-IN" sz="2800" b="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strlen()     strcpy()    strcat()     strcmp()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These functions are defined in </a:t>
            </a:r>
            <a:r>
              <a:rPr lang="en-IN" sz="2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string.h</a:t>
            </a:r>
            <a:r>
              <a:rPr lang="en-IN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header file.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All these functions take either a character pointer or a character array as an argument.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1204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2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CBC40C3E-BED6-4A98-BCA9-BE2627C4CC2F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26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
strlen() Function
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4" name="TextShape 2"/>
          <p:cNvSpPr txBox="1"/>
          <p:nvPr/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ibre Franklin"/>
                <a:ea typeface="Libre Franklin"/>
              </a:rPr>
              <a:t> </a:t>
            </a:r>
            <a:r>
              <a:rPr lang="en-IN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strlen() function is used to count the number of characters in the string. Counts all the characters excluding the null character ‘\0’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Syntax: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	size_t strlen (const char* s);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9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The strlen() function is defined in &lt;string.h&gt; header file.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0808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0808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5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45D4A29C-DF32-4F5F-9985-910A3D69CE56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27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56" name="CustomShape 4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Contd…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8" name="TextShape 2"/>
          <p:cNvSpPr txBox="1"/>
          <p:nvPr/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Example: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	strlen(“Programming Fundamentals”); 		/*returns 24*/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	strlen(acItemCategory);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returns the number of characters in the character array ‘acItemCategory’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1204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9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523BDBF1-5CC8-4BC2-8576-199DF18D84B0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28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
Example: C strlen() function
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1" name="TextShape 2"/>
          <p:cNvSpPr txBox="1"/>
          <p:nvPr/>
        </p:nvSpPr>
        <p:spPr>
          <a:xfrm>
            <a:off x="1831680" y="1676520"/>
            <a:ext cx="5559120" cy="4952520"/>
          </a:xfrm>
          <a:prstGeom prst="rect">
            <a:avLst/>
          </a:prstGeom>
          <a:noFill/>
          <a:ln w="19080">
            <a:solidFill>
              <a:srgbClr val="538CD5"/>
            </a:solidFill>
            <a:round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#include &lt;stdio.h&gt;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#include &lt;string.h&gt;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int main() {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char a[20]="Program";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char b[20]={'P','r','o','g','r','a','m','\0'};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char c[20];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printf("Enter string: ");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gets(c); //scanf(“%s”,c);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printf("Length of string a = %d \n",</a:t>
            </a:r>
            <a:r>
              <a:rPr lang="en-IN" sz="2000" b="1" strike="noStrike" spc="-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strlen</a:t>
            </a: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(a));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</a:t>
            </a: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//calculates the length of string before null charcter.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printf("Length of string b = %d \n",</a:t>
            </a:r>
            <a:r>
              <a:rPr lang="en-IN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strlen</a:t>
            </a: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(b));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printf("Length of string c = %d \n",</a:t>
            </a:r>
            <a:r>
              <a:rPr lang="en-IN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strlen</a:t>
            </a: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(c));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return 0; }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2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5A97657F-0801-443E-AF5E-0B94DD3D5753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29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612720" y="38088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
strcpy() Function
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4" name="TextShape 2"/>
          <p:cNvSpPr txBox="1"/>
          <p:nvPr/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9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strcpy() function is used to copy one string to another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9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Syntax: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9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	strcpy (Dest_String , Source_String);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9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Here Dest_string should always be variable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9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ibre Franklin"/>
                <a:ea typeface="Libre Franklin"/>
              </a:rPr>
              <a:t>Source_String can be a variable or a string constant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0808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5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B4AEC807-2FBA-4975-9F41-D2CE1BC5959A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30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Contd…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7" name="TextShape 2"/>
          <p:cNvSpPr txBox="1"/>
          <p:nvPr/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The previous contents of Dest_String, if any, will be over written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Example: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	char acCourseName[40];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strcpy(acCourseName , “C Programming”);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Now acCourseName will get the value “C Programming”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1960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8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7129173C-D266-4C41-862C-5E29EED62306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31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Example: C strcpy()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0" name="TextShape 2"/>
          <p:cNvSpPr txBox="1"/>
          <p:nvPr/>
        </p:nvSpPr>
        <p:spPr>
          <a:xfrm>
            <a:off x="2441520" y="1523880"/>
            <a:ext cx="3730320" cy="5181120"/>
          </a:xfrm>
          <a:prstGeom prst="rect">
            <a:avLst/>
          </a:prstGeom>
          <a:noFill/>
          <a:ln w="19080">
            <a:solidFill>
              <a:srgbClr val="538CD5"/>
            </a:solidFill>
            <a:round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#include &lt;stdio.h&gt;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#include &lt;string.h&gt;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int main()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{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char str1[10]= "awesome";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char str2[10];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char str3[10];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</a:t>
            </a:r>
            <a:r>
              <a:rPr lang="en-IN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strcpy</a:t>
            </a: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(str2, str1); //function call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</a:t>
            </a:r>
            <a:r>
              <a:rPr lang="en-IN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strcpy</a:t>
            </a: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(str3, "well");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puts(str2);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puts(str3);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return 0;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}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1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BCEA56FE-F016-40BE-9521-99DC040F785B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32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strcat() Function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3" name="TextShape 2"/>
          <p:cNvSpPr txBox="1"/>
          <p:nvPr/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9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strcat() function is used to concatenate (Combine) two strings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9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Syntax: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IN" sz="2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strcat( Dest_String_Variable , Source_String ) 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9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 this, the Destination should be a variable and Source_String can either be a string constant or a variable.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9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The contents of Dest_String is concatenated with Source_String contents and the resultant string is stored into Dest_String variable.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1960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4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147D7E0A-52AC-4301-9378-5808435B74AC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33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Contd…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6" name="TextShape 2"/>
          <p:cNvSpPr txBox="1"/>
          <p:nvPr/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Example: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char acTraineeFpCourse [50] = “The course is “;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strcat(acTraineeFpCourse,”Oracle 8i”);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The resultant string in acTraineeFPCourse will be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“The course is Oracle 8i”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1960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7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69ED3013-22D9-4B3E-93A5-27DFCAF53CA1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34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Example: C strcat() function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9" name="TextShape 2"/>
          <p:cNvSpPr txBox="1"/>
          <p:nvPr/>
        </p:nvSpPr>
        <p:spPr>
          <a:xfrm>
            <a:off x="301680" y="1828800"/>
            <a:ext cx="8537040" cy="4266720"/>
          </a:xfrm>
          <a:prstGeom prst="rect">
            <a:avLst/>
          </a:prstGeom>
          <a:noFill/>
          <a:ln w="28440">
            <a:solidFill>
              <a:srgbClr val="4F81BD"/>
            </a:solidFill>
            <a:round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#include &lt;stdio.h&gt;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#include &lt;string.h&gt;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int main()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{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char str1[] = "This is", str2[] = "MIT-WPU";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//concatenates str1 and str2 and resultant string is stored in str1.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strcat</a:t>
            </a: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(str1,str2);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puts(str1);   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puts(str2);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return 0;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}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0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1F785BEE-7FB7-4D49-A5A9-FB8C687FEB05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35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
strcmp() Function
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2" name="TextShape 2"/>
          <p:cNvSpPr txBox="1"/>
          <p:nvPr/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strcmp() function is used to compare two strings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This is case sensitive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Syntax: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	int strcmp( String1 , String2 )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Here both String1 and String2 can either be a variable or a string constant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strcmp() function returns an integer value.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2716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3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51D80D83-5656-4EE4-99ED-90FD01BFF027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36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Contd…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5" name="TextShape 2"/>
          <p:cNvSpPr txBox="1"/>
          <p:nvPr/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If strings are equal it returns zero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If the first string is alphabetically greater than the second string then it returns a positive value.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If the first string is alphabetically less than the second string then it returns a negative value.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Example: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	strcmp(“My Work”, “My Job”) returns a positive value.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2716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6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85485E4C-7CFE-46E5-B627-D80C4D5DE613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37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Contd…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8" name="TextShape 2"/>
          <p:cNvSpPr txBox="1"/>
          <p:nvPr/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If strings are equal it returns zero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If the first string is alphabetically greater than the second string then it returns a positive value.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If the first string is alphabetically less than the second string then it returns a negative value.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Example: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318600">
              <a:lnSpc>
                <a:spcPct val="100000"/>
              </a:lnSpc>
              <a:buClr>
                <a:srgbClr val="C0504D"/>
              </a:buClr>
              <a:buFont typeface="Noto Sans Symbols"/>
              <a:buChar char="◻"/>
            </a:pPr>
            <a:r>
              <a:rPr lang="en-IN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strcmp(“My Work”, “My Job”) returns a positive value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18960" indent="-22716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9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35A543FA-91E3-432F-A967-73A997D1C001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38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Shape 1"/>
          <p:cNvSpPr txBox="1"/>
          <p:nvPr/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400" b="0" strike="noStrike" spc="-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Example: C strcmp() function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1" name="TextShape 2"/>
          <p:cNvSpPr txBox="1"/>
          <p:nvPr/>
        </p:nvSpPr>
        <p:spPr>
          <a:xfrm>
            <a:off x="2057400" y="1600200"/>
            <a:ext cx="5787720" cy="4952520"/>
          </a:xfrm>
          <a:prstGeom prst="rect">
            <a:avLst/>
          </a:prstGeom>
          <a:noFill/>
          <a:ln w="19080">
            <a:solidFill>
              <a:srgbClr val="538CD5"/>
            </a:solidFill>
            <a:round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#include &lt;stdio.h&gt;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#include &lt;string.h&gt;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int main() {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char str1[] = "abcd", str2[] = "abCd", str3[] = "abcd";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int result;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// comparing strings str1 and str2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result = </a:t>
            </a:r>
            <a:r>
              <a:rPr lang="en-IN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strcmp</a:t>
            </a: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(str1, str2);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printf("strcmp(str1, str2) = %d\n", result);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// comparing strings str1 and str3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result = </a:t>
            </a:r>
            <a:r>
              <a:rPr lang="en-IN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strcmp</a:t>
            </a: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(str1, str3);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printf("strcmp(str1, str3) = %d\n", result);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    return 0; 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}</a:t>
            </a: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2" name="TextShape 3"/>
          <p:cNvSpPr txBox="1"/>
          <p:nvPr/>
        </p:nvSpPr>
        <p:spPr>
          <a:xfrm>
            <a:off x="0" y="1219320"/>
            <a:ext cx="533160" cy="244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fld id="{CE67C8DA-32C3-4EF8-8344-58E07204FE9A}" type="slidenum">
              <a:rPr lang="en-IN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entieth Century"/>
                <a:ea typeface="Twentieth Century"/>
              </a:rPr>
              <a:t>39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2517</Words>
  <Application>Microsoft Office PowerPoint</Application>
  <PresentationFormat>On-screen Show (4:3)</PresentationFormat>
  <Paragraphs>303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Arial</vt:lpstr>
      <vt:lpstr>Calibri</vt:lpstr>
      <vt:lpstr>Libre Franklin</vt:lpstr>
      <vt:lpstr>Noto Sans Symbols</vt:lpstr>
      <vt:lpstr>Questrial</vt:lpstr>
      <vt:lpstr>Symbol</vt:lpstr>
      <vt:lpstr>Times New Roman</vt:lpstr>
      <vt:lpstr>Twentieth Century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Calculate average marks</vt:lpstr>
      <vt:lpstr>PowerPoint Presentation</vt:lpstr>
      <vt:lpstr>Multidimensional arrays</vt:lpstr>
      <vt:lpstr>Multidimensional arrays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test</dc:creator>
  <dc:description/>
  <cp:lastModifiedBy>Rashmi Apte</cp:lastModifiedBy>
  <cp:revision>24</cp:revision>
  <dcterms:created xsi:type="dcterms:W3CDTF">2015-05-30T10:13:23Z</dcterms:created>
  <dcterms:modified xsi:type="dcterms:W3CDTF">2026-01-06T04:02:07Z</dcterms:modified>
  <dc:language>en-IN</dc:language>
</cp:coreProperties>
</file>